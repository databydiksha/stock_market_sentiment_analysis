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Poppins Bold" charset="1" panose="00000800000000000000"/>
      <p:regular r:id="rId14"/>
    </p:embeddedFont>
    <p:embeddedFont>
      <p:font typeface="Poppins Bold Italics" charset="1" panose="00000800000000000000"/>
      <p:regular r:id="rId15"/>
    </p:embeddedFont>
    <p:embeddedFont>
      <p:font typeface="Poppins" charset="1" panose="000005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12" Target="../media/image21.png" Type="http://schemas.openxmlformats.org/officeDocument/2006/relationships/image"/><Relationship Id="rId13" Target="../media/image22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Relationship Id="rId6" Target="../media/image34.png" Type="http://schemas.openxmlformats.org/officeDocument/2006/relationships/image"/><Relationship Id="rId7" Target="../media/image35.svg" Type="http://schemas.openxmlformats.org/officeDocument/2006/relationships/image"/><Relationship Id="rId8" Target="../media/image36.png" Type="http://schemas.openxmlformats.org/officeDocument/2006/relationships/image"/><Relationship Id="rId9" Target="../media/image3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42.png" Type="http://schemas.openxmlformats.org/officeDocument/2006/relationships/image"/><Relationship Id="rId13" Target="../media/image43.png" Type="http://schemas.openxmlformats.org/officeDocument/2006/relationships/image"/><Relationship Id="rId14" Target="../media/image44.png" Type="http://schemas.openxmlformats.org/officeDocument/2006/relationships/image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38.png" Type="http://schemas.openxmlformats.org/officeDocument/2006/relationships/image"/><Relationship Id="rId7" Target="../media/image39.svg" Type="http://schemas.openxmlformats.org/officeDocument/2006/relationships/image"/><Relationship Id="rId8" Target="../media/image40.png" Type="http://schemas.openxmlformats.org/officeDocument/2006/relationships/image"/><Relationship Id="rId9" Target="../media/image4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11" Target="../media/image30.svg" Type="http://schemas.openxmlformats.org/officeDocument/2006/relationships/image"/><Relationship Id="rId12" Target="../media/image17.png" Type="http://schemas.openxmlformats.org/officeDocument/2006/relationships/image"/><Relationship Id="rId13" Target="../media/image18.svg" Type="http://schemas.openxmlformats.org/officeDocument/2006/relationships/image"/><Relationship Id="rId2" Target="../media/image32.png" Type="http://schemas.openxmlformats.org/officeDocument/2006/relationships/image"/><Relationship Id="rId3" Target="../media/image33.svg" Type="http://schemas.openxmlformats.org/officeDocument/2006/relationships/image"/><Relationship Id="rId4" Target="../media/image45.png" Type="http://schemas.openxmlformats.org/officeDocument/2006/relationships/image"/><Relationship Id="rId5" Target="../media/image46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47.png" Type="http://schemas.openxmlformats.org/officeDocument/2006/relationships/image"/><Relationship Id="rId9" Target="../media/image4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svg" Type="http://schemas.openxmlformats.org/officeDocument/2006/relationships/image"/><Relationship Id="rId11" Target="../media/image31.png" Type="http://schemas.openxmlformats.org/officeDocument/2006/relationships/image"/><Relationship Id="rId2" Target="../media/image49.png" Type="http://schemas.openxmlformats.org/officeDocument/2006/relationships/image"/><Relationship Id="rId3" Target="../media/image50.svg" Type="http://schemas.openxmlformats.org/officeDocument/2006/relationships/image"/><Relationship Id="rId4" Target="../media/image51.jpeg" Type="http://schemas.openxmlformats.org/officeDocument/2006/relationships/image"/><Relationship Id="rId5" Target="../media/image52.png" Type="http://schemas.openxmlformats.org/officeDocument/2006/relationships/image"/><Relationship Id="rId6" Target="../media/image53.svg" Type="http://schemas.openxmlformats.org/officeDocument/2006/relationships/image"/><Relationship Id="rId7" Target="../media/image54.png" Type="http://schemas.openxmlformats.org/officeDocument/2006/relationships/image"/><Relationship Id="rId8" Target="../media/image55.sv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60.png" Type="http://schemas.openxmlformats.org/officeDocument/2006/relationships/image"/><Relationship Id="rId13" Target="../media/image61.svg" Type="http://schemas.openxmlformats.org/officeDocument/2006/relationships/image"/><Relationship Id="rId2" Target="../media/image56.png" Type="http://schemas.openxmlformats.org/officeDocument/2006/relationships/image"/><Relationship Id="rId3" Target="../media/image57.svg" Type="http://schemas.openxmlformats.org/officeDocument/2006/relationships/image"/><Relationship Id="rId4" Target="../media/image58.png" Type="http://schemas.openxmlformats.org/officeDocument/2006/relationships/image"/><Relationship Id="rId5" Target="../media/image59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DB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11368">
            <a:off x="-3264261" y="-8670403"/>
            <a:ext cx="24411143" cy="14469150"/>
          </a:xfrm>
          <a:custGeom>
            <a:avLst/>
            <a:gdLst/>
            <a:ahLst/>
            <a:cxnLst/>
            <a:rect r="r" b="b" t="t" l="l"/>
            <a:pathLst>
              <a:path h="14469150" w="24411143">
                <a:moveTo>
                  <a:pt x="0" y="0"/>
                </a:moveTo>
                <a:lnTo>
                  <a:pt x="24411143" y="0"/>
                </a:lnTo>
                <a:lnTo>
                  <a:pt x="24411143" y="14469151"/>
                </a:lnTo>
                <a:lnTo>
                  <a:pt x="0" y="144691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98201" y="280540"/>
            <a:ext cx="12891597" cy="12774401"/>
          </a:xfrm>
          <a:custGeom>
            <a:avLst/>
            <a:gdLst/>
            <a:ahLst/>
            <a:cxnLst/>
            <a:rect r="r" b="b" t="t" l="l"/>
            <a:pathLst>
              <a:path h="12774401" w="12891597">
                <a:moveTo>
                  <a:pt x="0" y="0"/>
                </a:moveTo>
                <a:lnTo>
                  <a:pt x="12891598" y="0"/>
                </a:lnTo>
                <a:lnTo>
                  <a:pt x="12891598" y="12774401"/>
                </a:lnTo>
                <a:lnTo>
                  <a:pt x="0" y="127744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188356" y="6667741"/>
            <a:ext cx="4099644" cy="3619259"/>
          </a:xfrm>
          <a:custGeom>
            <a:avLst/>
            <a:gdLst/>
            <a:ahLst/>
            <a:cxnLst/>
            <a:rect r="r" b="b" t="t" l="l"/>
            <a:pathLst>
              <a:path h="3619259" w="4099644">
                <a:moveTo>
                  <a:pt x="0" y="0"/>
                </a:moveTo>
                <a:lnTo>
                  <a:pt x="4099644" y="0"/>
                </a:lnTo>
                <a:lnTo>
                  <a:pt x="4099644" y="3619259"/>
                </a:lnTo>
                <a:lnTo>
                  <a:pt x="0" y="36192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8639666"/>
            <a:ext cx="1902562" cy="1733061"/>
          </a:xfrm>
          <a:custGeom>
            <a:avLst/>
            <a:gdLst/>
            <a:ahLst/>
            <a:cxnLst/>
            <a:rect r="r" b="b" t="t" l="l"/>
            <a:pathLst>
              <a:path h="1733061" w="1902562">
                <a:moveTo>
                  <a:pt x="0" y="0"/>
                </a:moveTo>
                <a:lnTo>
                  <a:pt x="1902562" y="0"/>
                </a:lnTo>
                <a:lnTo>
                  <a:pt x="1902562" y="1733061"/>
                </a:lnTo>
                <a:lnTo>
                  <a:pt x="0" y="17330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232054"/>
            <a:ext cx="3131608" cy="2106718"/>
          </a:xfrm>
          <a:custGeom>
            <a:avLst/>
            <a:gdLst/>
            <a:ahLst/>
            <a:cxnLst/>
            <a:rect r="r" b="b" t="t" l="l"/>
            <a:pathLst>
              <a:path h="2106718" w="3131608">
                <a:moveTo>
                  <a:pt x="0" y="0"/>
                </a:moveTo>
                <a:lnTo>
                  <a:pt x="3131608" y="0"/>
                </a:lnTo>
                <a:lnTo>
                  <a:pt x="3131608" y="2106718"/>
                </a:lnTo>
                <a:lnTo>
                  <a:pt x="0" y="210671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473439" y="2078266"/>
            <a:ext cx="9341122" cy="232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2"/>
              </a:lnSpc>
            </a:pPr>
            <a:r>
              <a:rPr lang="en-US" b="true" sz="5544" spc="-360">
                <a:solidFill>
                  <a:srgbClr val="072C5D"/>
                </a:solidFill>
                <a:latin typeface="Poppins Bold"/>
                <a:ea typeface="Poppins Bold"/>
                <a:cs typeface="Poppins Bold"/>
                <a:sym typeface="Poppins Bold"/>
              </a:rPr>
              <a:t>STOCK MARKET MOVEMENT PREDICTION USING SENTIMENT ANALYSIS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995915" y="6020415"/>
            <a:ext cx="7890791" cy="2059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3"/>
              </a:lnSpc>
            </a:pPr>
            <a:r>
              <a:rPr lang="en-US" sz="290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Submitted by: Diksha Pandey</a:t>
            </a:r>
          </a:p>
          <a:p>
            <a:pPr algn="ctr">
              <a:lnSpc>
                <a:spcPts val="4073"/>
              </a:lnSpc>
            </a:pPr>
            <a:r>
              <a:rPr lang="en-US" sz="290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MBA (Business Analytics)</a:t>
            </a:r>
          </a:p>
          <a:p>
            <a:pPr algn="ctr">
              <a:lnSpc>
                <a:spcPts val="4073"/>
              </a:lnSpc>
            </a:pPr>
            <a:r>
              <a:rPr lang="en-US" sz="290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School of Business &amp; Managemnet</a:t>
            </a:r>
          </a:p>
          <a:p>
            <a:pPr algn="ctr">
              <a:lnSpc>
                <a:spcPts val="4073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5198604" y="4405847"/>
            <a:ext cx="7890791" cy="509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3"/>
              </a:lnSpc>
            </a:pPr>
            <a:r>
              <a:rPr lang="en-US" b="true" sz="2809" i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Using Data to Understand Market Trends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995915" y="9182100"/>
            <a:ext cx="7890791" cy="516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3"/>
              </a:lnSpc>
            </a:pPr>
            <a:r>
              <a:rPr lang="en-US" b="true" sz="290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Submitted to: Dr. Himani Saraswat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CF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614025">
            <a:off x="6584822" y="-6194009"/>
            <a:ext cx="18035830" cy="10690328"/>
          </a:xfrm>
          <a:custGeom>
            <a:avLst/>
            <a:gdLst/>
            <a:ahLst/>
            <a:cxnLst/>
            <a:rect r="r" b="b" t="t" l="l"/>
            <a:pathLst>
              <a:path h="10690328" w="18035830">
                <a:moveTo>
                  <a:pt x="0" y="0"/>
                </a:moveTo>
                <a:lnTo>
                  <a:pt x="18035830" y="0"/>
                </a:lnTo>
                <a:lnTo>
                  <a:pt x="18035830" y="10690328"/>
                </a:lnTo>
                <a:lnTo>
                  <a:pt x="0" y="106903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91908">
            <a:off x="-6508429" y="4166215"/>
            <a:ext cx="18035830" cy="10690328"/>
          </a:xfrm>
          <a:custGeom>
            <a:avLst/>
            <a:gdLst/>
            <a:ahLst/>
            <a:cxnLst/>
            <a:rect r="r" b="b" t="t" l="l"/>
            <a:pathLst>
              <a:path h="10690328" w="18035830">
                <a:moveTo>
                  <a:pt x="0" y="0"/>
                </a:moveTo>
                <a:lnTo>
                  <a:pt x="18035830" y="0"/>
                </a:lnTo>
                <a:lnTo>
                  <a:pt x="18035830" y="10690328"/>
                </a:lnTo>
                <a:lnTo>
                  <a:pt x="0" y="106903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458" y="6650459"/>
            <a:ext cx="4224490" cy="4154316"/>
          </a:xfrm>
          <a:custGeom>
            <a:avLst/>
            <a:gdLst/>
            <a:ahLst/>
            <a:cxnLst/>
            <a:rect r="r" b="b" t="t" l="l"/>
            <a:pathLst>
              <a:path h="4154316" w="4224490">
                <a:moveTo>
                  <a:pt x="0" y="0"/>
                </a:moveTo>
                <a:lnTo>
                  <a:pt x="4224490" y="0"/>
                </a:lnTo>
                <a:lnTo>
                  <a:pt x="4224490" y="4154316"/>
                </a:lnTo>
                <a:lnTo>
                  <a:pt x="0" y="41543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8268108" y="7258116"/>
            <a:ext cx="3242824" cy="3819172"/>
          </a:xfrm>
          <a:custGeom>
            <a:avLst/>
            <a:gdLst/>
            <a:ahLst/>
            <a:cxnLst/>
            <a:rect r="r" b="b" t="t" l="l"/>
            <a:pathLst>
              <a:path h="3819172" w="3242824">
                <a:moveTo>
                  <a:pt x="3242824" y="0"/>
                </a:moveTo>
                <a:lnTo>
                  <a:pt x="0" y="0"/>
                </a:lnTo>
                <a:lnTo>
                  <a:pt x="0" y="3819172"/>
                </a:lnTo>
                <a:lnTo>
                  <a:pt x="3242824" y="3819172"/>
                </a:lnTo>
                <a:lnTo>
                  <a:pt x="324282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834937" y="687673"/>
            <a:ext cx="6191050" cy="8867389"/>
          </a:xfrm>
          <a:custGeom>
            <a:avLst/>
            <a:gdLst/>
            <a:ahLst/>
            <a:cxnLst/>
            <a:rect r="r" b="b" t="t" l="l"/>
            <a:pathLst>
              <a:path h="8867389" w="6191050">
                <a:moveTo>
                  <a:pt x="0" y="0"/>
                </a:moveTo>
                <a:lnTo>
                  <a:pt x="6191050" y="0"/>
                </a:lnTo>
                <a:lnTo>
                  <a:pt x="6191050" y="8867390"/>
                </a:lnTo>
                <a:lnTo>
                  <a:pt x="0" y="886739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159920" y="-1190047"/>
            <a:ext cx="3824986" cy="3755440"/>
          </a:xfrm>
          <a:custGeom>
            <a:avLst/>
            <a:gdLst/>
            <a:ahLst/>
            <a:cxnLst/>
            <a:rect r="r" b="b" t="t" l="l"/>
            <a:pathLst>
              <a:path h="3755440" w="3824986">
                <a:moveTo>
                  <a:pt x="0" y="0"/>
                </a:moveTo>
                <a:lnTo>
                  <a:pt x="3824985" y="0"/>
                </a:lnTo>
                <a:lnTo>
                  <a:pt x="3824985" y="3755441"/>
                </a:lnTo>
                <a:lnTo>
                  <a:pt x="0" y="375544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665065" y="1964063"/>
            <a:ext cx="5812591" cy="2486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09"/>
              </a:lnSpc>
            </a:pPr>
            <a:r>
              <a:rPr lang="en-US" b="true" sz="8700">
                <a:solidFill>
                  <a:srgbClr val="072C5D"/>
                </a:solidFill>
                <a:latin typeface="Poppins Bold"/>
                <a:ea typeface="Poppins Bold"/>
                <a:cs typeface="Poppins Bold"/>
                <a:sym typeface="Poppins Bold"/>
              </a:rPr>
              <a:t>TABLE OF CONTENT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65065" y="4605075"/>
            <a:ext cx="5157434" cy="1745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4"/>
              </a:lnSpc>
            </a:pPr>
            <a:r>
              <a:rPr lang="en-US" sz="328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This is the material point that I will be delivering in the presentation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03467" y="2074842"/>
            <a:ext cx="5053990" cy="6061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0356" indent="-310178" lvl="1">
              <a:lnSpc>
                <a:spcPts val="4022"/>
              </a:lnSpc>
              <a:buAutoNum type="arabicPeriod" startAt="1"/>
            </a:pPr>
            <a:r>
              <a:rPr lang="en-US" b="true" sz="2873" spc="264">
                <a:solidFill>
                  <a:srgbClr val="072C5D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 &amp; Business Problem</a:t>
            </a:r>
          </a:p>
          <a:p>
            <a:pPr algn="l" marL="620356" indent="-310178" lvl="1">
              <a:lnSpc>
                <a:spcPts val="4022"/>
              </a:lnSpc>
              <a:buAutoNum type="arabicPeriod" startAt="1"/>
            </a:pPr>
            <a:r>
              <a:rPr lang="en-US" b="true" sz="2873" spc="264">
                <a:solidFill>
                  <a:srgbClr val="072C5D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 of the Study</a:t>
            </a:r>
          </a:p>
          <a:p>
            <a:pPr algn="l" marL="620356" indent="-310178" lvl="1">
              <a:lnSpc>
                <a:spcPts val="4022"/>
              </a:lnSpc>
              <a:buAutoNum type="arabicPeriod" startAt="1"/>
            </a:pPr>
            <a:r>
              <a:rPr lang="en-US" b="true" sz="2873" spc="264">
                <a:solidFill>
                  <a:srgbClr val="072C5D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 &amp; Variables</a:t>
            </a:r>
          </a:p>
          <a:p>
            <a:pPr algn="l" marL="620356" indent="-310178" lvl="1">
              <a:lnSpc>
                <a:spcPts val="4022"/>
              </a:lnSpc>
              <a:buAutoNum type="arabicPeriod" startAt="1"/>
            </a:pPr>
            <a:r>
              <a:rPr lang="en-US" b="true" sz="2873" spc="264">
                <a:solidFill>
                  <a:srgbClr val="072C5D"/>
                </a:solidFill>
                <a:latin typeface="Poppins Bold"/>
                <a:ea typeface="Poppins Bold"/>
                <a:cs typeface="Poppins Bold"/>
                <a:sym typeface="Poppins Bold"/>
              </a:rPr>
              <a:t>Exploratory Data Analysis</a:t>
            </a:r>
          </a:p>
          <a:p>
            <a:pPr algn="l" marL="620356" indent="-310178" lvl="1">
              <a:lnSpc>
                <a:spcPts val="4022"/>
              </a:lnSpc>
              <a:buAutoNum type="arabicPeriod" startAt="1"/>
            </a:pPr>
            <a:r>
              <a:rPr lang="en-US" b="true" sz="2873" spc="264">
                <a:solidFill>
                  <a:srgbClr val="072C5D"/>
                </a:solidFill>
                <a:latin typeface="Poppins Bold"/>
                <a:ea typeface="Poppins Bold"/>
                <a:cs typeface="Poppins Bold"/>
                <a:sym typeface="Poppins Bold"/>
              </a:rPr>
              <a:t>Methodology &amp; Model</a:t>
            </a:r>
          </a:p>
          <a:p>
            <a:pPr algn="l" marL="620356" indent="-310178" lvl="1">
              <a:lnSpc>
                <a:spcPts val="4022"/>
              </a:lnSpc>
              <a:buAutoNum type="arabicPeriod" startAt="1"/>
            </a:pPr>
            <a:r>
              <a:rPr lang="en-US" b="true" sz="2873" spc="264">
                <a:solidFill>
                  <a:srgbClr val="072C5D"/>
                </a:solidFill>
                <a:latin typeface="Poppins Bold"/>
                <a:ea typeface="Poppins Bold"/>
                <a:cs typeface="Poppins Bold"/>
                <a:sym typeface="Poppins Bold"/>
              </a:rPr>
              <a:t>Results &amp; Insights</a:t>
            </a:r>
          </a:p>
          <a:p>
            <a:pPr algn="l" marL="620356" indent="-310178" lvl="1">
              <a:lnSpc>
                <a:spcPts val="4022"/>
              </a:lnSpc>
              <a:buAutoNum type="arabicPeriod" startAt="1"/>
            </a:pPr>
            <a:r>
              <a:rPr lang="en-US" b="true" sz="2873" spc="264">
                <a:solidFill>
                  <a:srgbClr val="072C5D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 &amp; Future Scope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88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837538">
            <a:off x="-9203576" y="-2525821"/>
            <a:ext cx="12193493" cy="24298628"/>
          </a:xfrm>
          <a:custGeom>
            <a:avLst/>
            <a:gdLst/>
            <a:ahLst/>
            <a:cxnLst/>
            <a:rect r="r" b="b" t="t" l="l"/>
            <a:pathLst>
              <a:path h="24298628" w="12193493">
                <a:moveTo>
                  <a:pt x="0" y="0"/>
                </a:moveTo>
                <a:lnTo>
                  <a:pt x="12193493" y="0"/>
                </a:lnTo>
                <a:lnTo>
                  <a:pt x="12193493" y="24298628"/>
                </a:lnTo>
                <a:lnTo>
                  <a:pt x="0" y="24298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27556" y="3190510"/>
            <a:ext cx="6385408" cy="940016"/>
            <a:chOff x="0" y="0"/>
            <a:chExt cx="1681754" cy="2475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81754" cy="247576"/>
            </a:xfrm>
            <a:custGeom>
              <a:avLst/>
              <a:gdLst/>
              <a:ahLst/>
              <a:cxnLst/>
              <a:rect r="r" b="b" t="t" l="l"/>
              <a:pathLst>
                <a:path h="247576" w="1681754">
                  <a:moveTo>
                    <a:pt x="61834" y="0"/>
                  </a:moveTo>
                  <a:lnTo>
                    <a:pt x="1619919" y="0"/>
                  </a:lnTo>
                  <a:cubicBezTo>
                    <a:pt x="1636319" y="0"/>
                    <a:pt x="1652046" y="6515"/>
                    <a:pt x="1663643" y="18111"/>
                  </a:cubicBezTo>
                  <a:cubicBezTo>
                    <a:pt x="1675239" y="29707"/>
                    <a:pt x="1681754" y="45435"/>
                    <a:pt x="1681754" y="61834"/>
                  </a:cubicBezTo>
                  <a:lnTo>
                    <a:pt x="1681754" y="185742"/>
                  </a:lnTo>
                  <a:cubicBezTo>
                    <a:pt x="1681754" y="219892"/>
                    <a:pt x="1654069" y="247576"/>
                    <a:pt x="1619919" y="247576"/>
                  </a:cubicBezTo>
                  <a:lnTo>
                    <a:pt x="61834" y="247576"/>
                  </a:lnTo>
                  <a:cubicBezTo>
                    <a:pt x="27684" y="247576"/>
                    <a:pt x="0" y="219892"/>
                    <a:pt x="0" y="185742"/>
                  </a:cubicBezTo>
                  <a:lnTo>
                    <a:pt x="0" y="61834"/>
                  </a:lnTo>
                  <a:cubicBezTo>
                    <a:pt x="0" y="27684"/>
                    <a:pt x="27684" y="0"/>
                    <a:pt x="61834" y="0"/>
                  </a:cubicBezTo>
                  <a:close/>
                </a:path>
              </a:pathLst>
            </a:custGeom>
            <a:solidFill>
              <a:srgbClr val="072C5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1681754" cy="3237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51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105293" y="1724112"/>
            <a:ext cx="12077415" cy="782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71"/>
              </a:lnSpc>
            </a:pPr>
            <a:r>
              <a:rPr lang="en-US" b="true" sz="5300">
                <a:solidFill>
                  <a:srgbClr val="072C5D"/>
                </a:solidFill>
                <a:latin typeface="Poppins Bold"/>
                <a:ea typeface="Poppins Bold"/>
                <a:cs typeface="Poppins Bold"/>
                <a:sym typeface="Poppins Bold"/>
              </a:rPr>
              <a:t>BUSINESS PROBLEM &amp; OBJECTIVE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3837538">
            <a:off x="12321794" y="-8602231"/>
            <a:ext cx="7010363" cy="13969926"/>
          </a:xfrm>
          <a:custGeom>
            <a:avLst/>
            <a:gdLst/>
            <a:ahLst/>
            <a:cxnLst/>
            <a:rect r="r" b="b" t="t" l="l"/>
            <a:pathLst>
              <a:path h="13969926" w="7010363">
                <a:moveTo>
                  <a:pt x="0" y="0"/>
                </a:moveTo>
                <a:lnTo>
                  <a:pt x="7010363" y="0"/>
                </a:lnTo>
                <a:lnTo>
                  <a:pt x="7010363" y="13969926"/>
                </a:lnTo>
                <a:lnTo>
                  <a:pt x="0" y="139699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743450" y="5378302"/>
            <a:ext cx="2043972" cy="2881539"/>
          </a:xfrm>
          <a:custGeom>
            <a:avLst/>
            <a:gdLst/>
            <a:ahLst/>
            <a:cxnLst/>
            <a:rect r="r" b="b" t="t" l="l"/>
            <a:pathLst>
              <a:path h="2881539" w="2043972">
                <a:moveTo>
                  <a:pt x="0" y="0"/>
                </a:moveTo>
                <a:lnTo>
                  <a:pt x="2043972" y="0"/>
                </a:lnTo>
                <a:lnTo>
                  <a:pt x="2043972" y="2881539"/>
                </a:lnTo>
                <a:lnTo>
                  <a:pt x="0" y="28815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050533" y="-820046"/>
            <a:ext cx="2714903" cy="3789839"/>
          </a:xfrm>
          <a:custGeom>
            <a:avLst/>
            <a:gdLst/>
            <a:ahLst/>
            <a:cxnLst/>
            <a:rect r="r" b="b" t="t" l="l"/>
            <a:pathLst>
              <a:path h="3789839" w="2714903">
                <a:moveTo>
                  <a:pt x="0" y="0"/>
                </a:moveTo>
                <a:lnTo>
                  <a:pt x="2714903" y="0"/>
                </a:lnTo>
                <a:lnTo>
                  <a:pt x="2714903" y="3789839"/>
                </a:lnTo>
                <a:lnTo>
                  <a:pt x="0" y="37898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16387" y="0"/>
            <a:ext cx="2422338" cy="2506947"/>
          </a:xfrm>
          <a:custGeom>
            <a:avLst/>
            <a:gdLst/>
            <a:ahLst/>
            <a:cxnLst/>
            <a:rect r="r" b="b" t="t" l="l"/>
            <a:pathLst>
              <a:path h="2506947" w="2422338">
                <a:moveTo>
                  <a:pt x="0" y="0"/>
                </a:moveTo>
                <a:lnTo>
                  <a:pt x="2422337" y="0"/>
                </a:lnTo>
                <a:lnTo>
                  <a:pt x="2422337" y="2506947"/>
                </a:lnTo>
                <a:lnTo>
                  <a:pt x="0" y="250694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441758" y="4263877"/>
            <a:ext cx="15817542" cy="214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Stock markets are influenced by news, opinions, and public sentiment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Investors face challenges in interpreting large volumes of unstructured information</a:t>
            </a:r>
          </a:p>
          <a:p>
            <a:pPr algn="just">
              <a:lnSpc>
                <a:spcPts val="420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441758" y="3269322"/>
            <a:ext cx="6371206" cy="726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51"/>
              </a:lnSpc>
            </a:pPr>
            <a:r>
              <a:rPr lang="en-US" b="true" sz="4036">
                <a:solidFill>
                  <a:srgbClr val="F4BA2F"/>
                </a:solidFill>
                <a:latin typeface="Poppins Bold"/>
                <a:ea typeface="Poppins Bold"/>
                <a:cs typeface="Poppins Bold"/>
                <a:sym typeface="Poppins Bold"/>
              </a:rPr>
              <a:t>BUSINESS PROBLEM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441758" y="6407002"/>
            <a:ext cx="6385408" cy="940016"/>
            <a:chOff x="0" y="0"/>
            <a:chExt cx="1681754" cy="24757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81754" cy="247576"/>
            </a:xfrm>
            <a:custGeom>
              <a:avLst/>
              <a:gdLst/>
              <a:ahLst/>
              <a:cxnLst/>
              <a:rect r="r" b="b" t="t" l="l"/>
              <a:pathLst>
                <a:path h="247576" w="1681754">
                  <a:moveTo>
                    <a:pt x="61834" y="0"/>
                  </a:moveTo>
                  <a:lnTo>
                    <a:pt x="1619919" y="0"/>
                  </a:lnTo>
                  <a:cubicBezTo>
                    <a:pt x="1636319" y="0"/>
                    <a:pt x="1652046" y="6515"/>
                    <a:pt x="1663643" y="18111"/>
                  </a:cubicBezTo>
                  <a:cubicBezTo>
                    <a:pt x="1675239" y="29707"/>
                    <a:pt x="1681754" y="45435"/>
                    <a:pt x="1681754" y="61834"/>
                  </a:cubicBezTo>
                  <a:lnTo>
                    <a:pt x="1681754" y="185742"/>
                  </a:lnTo>
                  <a:cubicBezTo>
                    <a:pt x="1681754" y="219892"/>
                    <a:pt x="1654069" y="247576"/>
                    <a:pt x="1619919" y="247576"/>
                  </a:cubicBezTo>
                  <a:lnTo>
                    <a:pt x="61834" y="247576"/>
                  </a:lnTo>
                  <a:cubicBezTo>
                    <a:pt x="27684" y="247576"/>
                    <a:pt x="0" y="219892"/>
                    <a:pt x="0" y="185742"/>
                  </a:cubicBezTo>
                  <a:lnTo>
                    <a:pt x="0" y="61834"/>
                  </a:lnTo>
                  <a:cubicBezTo>
                    <a:pt x="0" y="27684"/>
                    <a:pt x="27684" y="0"/>
                    <a:pt x="61834" y="0"/>
                  </a:cubicBezTo>
                  <a:close/>
                </a:path>
              </a:pathLst>
            </a:custGeom>
            <a:solidFill>
              <a:srgbClr val="072C5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76200"/>
              <a:ext cx="1681754" cy="3237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51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455960" y="7480368"/>
            <a:ext cx="15817542" cy="214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 analyze sentiment and predict market movement (Up/Down)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 convert qualitative sentiment into data-driven insights for decision-making</a:t>
            </a:r>
          </a:p>
          <a:p>
            <a:pPr algn="just">
              <a:lnSpc>
                <a:spcPts val="4200"/>
              </a:lnSpc>
            </a:pPr>
          </a:p>
          <a:p>
            <a:pPr algn="just">
              <a:lnSpc>
                <a:spcPts val="4200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455960" y="6485814"/>
            <a:ext cx="6371206" cy="726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51"/>
              </a:lnSpc>
            </a:pPr>
            <a:r>
              <a:rPr lang="en-US" b="true" sz="4036">
                <a:solidFill>
                  <a:srgbClr val="F4BA2F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CF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153386">
            <a:off x="-4940513" y="-2271511"/>
            <a:ext cx="8556723" cy="17051441"/>
          </a:xfrm>
          <a:custGeom>
            <a:avLst/>
            <a:gdLst/>
            <a:ahLst/>
            <a:cxnLst/>
            <a:rect r="r" b="b" t="t" l="l"/>
            <a:pathLst>
              <a:path h="17051441" w="8556723">
                <a:moveTo>
                  <a:pt x="0" y="0"/>
                </a:moveTo>
                <a:lnTo>
                  <a:pt x="8556723" y="0"/>
                </a:lnTo>
                <a:lnTo>
                  <a:pt x="8556723" y="17051441"/>
                </a:lnTo>
                <a:lnTo>
                  <a:pt x="0" y="170514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36512">
            <a:off x="16990762" y="-29292"/>
            <a:ext cx="5916872" cy="11790868"/>
          </a:xfrm>
          <a:custGeom>
            <a:avLst/>
            <a:gdLst/>
            <a:ahLst/>
            <a:cxnLst/>
            <a:rect r="r" b="b" t="t" l="l"/>
            <a:pathLst>
              <a:path h="11790868" w="5916872">
                <a:moveTo>
                  <a:pt x="0" y="0"/>
                </a:moveTo>
                <a:lnTo>
                  <a:pt x="5916871" y="0"/>
                </a:lnTo>
                <a:lnTo>
                  <a:pt x="5916871" y="11790868"/>
                </a:lnTo>
                <a:lnTo>
                  <a:pt x="0" y="117908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346841" y="5143500"/>
            <a:ext cx="3125143" cy="4640274"/>
          </a:xfrm>
          <a:custGeom>
            <a:avLst/>
            <a:gdLst/>
            <a:ahLst/>
            <a:cxnLst/>
            <a:rect r="r" b="b" t="t" l="l"/>
            <a:pathLst>
              <a:path h="4640274" w="3125143">
                <a:moveTo>
                  <a:pt x="3125142" y="0"/>
                </a:moveTo>
                <a:lnTo>
                  <a:pt x="0" y="0"/>
                </a:lnTo>
                <a:lnTo>
                  <a:pt x="0" y="4640274"/>
                </a:lnTo>
                <a:lnTo>
                  <a:pt x="3125142" y="4640274"/>
                </a:lnTo>
                <a:lnTo>
                  <a:pt x="312514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462455" y="819383"/>
            <a:ext cx="2796845" cy="2963902"/>
          </a:xfrm>
          <a:custGeom>
            <a:avLst/>
            <a:gdLst/>
            <a:ahLst/>
            <a:cxnLst/>
            <a:rect r="r" b="b" t="t" l="l"/>
            <a:pathLst>
              <a:path h="2963902" w="2796845">
                <a:moveTo>
                  <a:pt x="0" y="0"/>
                </a:moveTo>
                <a:lnTo>
                  <a:pt x="2796845" y="0"/>
                </a:lnTo>
                <a:lnTo>
                  <a:pt x="2796845" y="2963902"/>
                </a:lnTo>
                <a:lnTo>
                  <a:pt x="0" y="29639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778301" y="838433"/>
            <a:ext cx="12731397" cy="782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71"/>
              </a:lnSpc>
            </a:pPr>
            <a:r>
              <a:rPr lang="en-US" b="true" sz="5300">
                <a:solidFill>
                  <a:srgbClr val="072C5D"/>
                </a:solidFill>
                <a:latin typeface="Poppins Bold"/>
                <a:ea typeface="Poppins Bold"/>
                <a:cs typeface="Poppins Bold"/>
                <a:sym typeface="Poppins Bold"/>
              </a:rPr>
              <a:t>DATA &amp; KEY INSIGHTS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689347" y="1919928"/>
            <a:ext cx="11684153" cy="799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141623"/>
                </a:solidFill>
                <a:latin typeface="Poppins Bold"/>
                <a:ea typeface="Poppins Bold"/>
                <a:cs typeface="Poppins Bold"/>
                <a:sym typeface="Poppins Bold"/>
              </a:rPr>
              <a:t>DATA USED:</a:t>
            </a:r>
          </a:p>
          <a:p>
            <a:pPr algn="l">
              <a:lnSpc>
                <a:spcPts val="1400"/>
              </a:lnSpc>
            </a:pP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141623"/>
                </a:solidFill>
                <a:latin typeface="Poppins Bold"/>
                <a:ea typeface="Poppins Bold"/>
                <a:cs typeface="Poppins Bold"/>
                <a:sym typeface="Poppins Bold"/>
              </a:rPr>
              <a:t>Sentiment Score: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141623"/>
                </a:solidFill>
                <a:latin typeface="Poppins"/>
                <a:ea typeface="Poppins"/>
                <a:cs typeface="Poppins"/>
                <a:sym typeface="Poppins"/>
              </a:rPr>
              <a:t>-1 → Negative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141623"/>
                </a:solidFill>
                <a:latin typeface="Poppins"/>
                <a:ea typeface="Poppins"/>
                <a:cs typeface="Poppins"/>
                <a:sym typeface="Poppins"/>
              </a:rPr>
              <a:t>0 → Neutral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141623"/>
                </a:solidFill>
                <a:latin typeface="Poppins"/>
                <a:ea typeface="Poppins"/>
                <a:cs typeface="Poppins"/>
                <a:sym typeface="Poppins"/>
              </a:rPr>
              <a:t>1 → Positive</a:t>
            </a:r>
          </a:p>
          <a:p>
            <a:pPr algn="l">
              <a:lnSpc>
                <a:spcPts val="1399"/>
              </a:lnSpc>
            </a:pP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141623"/>
                </a:solidFill>
                <a:latin typeface="Poppins Bold"/>
                <a:ea typeface="Poppins Bold"/>
                <a:cs typeface="Poppins Bold"/>
                <a:sym typeface="Poppins Bold"/>
              </a:rPr>
              <a:t>Market Movement: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141623"/>
                </a:solidFill>
                <a:latin typeface="Poppins"/>
                <a:ea typeface="Poppins"/>
                <a:cs typeface="Poppins"/>
                <a:sym typeface="Poppins"/>
              </a:rPr>
              <a:t>0 → Down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141623"/>
                </a:solidFill>
                <a:latin typeface="Poppins"/>
                <a:ea typeface="Poppins"/>
                <a:cs typeface="Poppins"/>
                <a:sym typeface="Poppins"/>
              </a:rPr>
              <a:t>1 → Up</a:t>
            </a:r>
          </a:p>
          <a:p>
            <a:pPr algn="l">
              <a:lnSpc>
                <a:spcPts val="1399"/>
              </a:lnSpc>
            </a:pP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141623"/>
                </a:solidFill>
                <a:latin typeface="Poppins Bold"/>
                <a:ea typeface="Poppins Bold"/>
                <a:cs typeface="Poppins Bold"/>
                <a:sym typeface="Poppins Bold"/>
              </a:rPr>
              <a:t>Key Insights: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141623"/>
                </a:solidFill>
                <a:latin typeface="Poppins"/>
                <a:ea typeface="Poppins"/>
                <a:cs typeface="Poppins"/>
                <a:sym typeface="Poppins"/>
              </a:rPr>
              <a:t>Sentiment distribution reflects the overall market mood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141623"/>
                </a:solidFill>
                <a:latin typeface="Poppins"/>
                <a:ea typeface="Poppins"/>
                <a:cs typeface="Poppins"/>
                <a:sym typeface="Poppins"/>
              </a:rPr>
              <a:t>Market movement shows trend patterns (up/down)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141623"/>
                </a:solidFill>
                <a:latin typeface="Poppins"/>
                <a:ea typeface="Poppins"/>
                <a:cs typeface="Poppins"/>
                <a:sym typeface="Poppins"/>
              </a:rPr>
              <a:t>Relationship analysis suggests sentiment has partial influence on market direction</a:t>
            </a:r>
          </a:p>
          <a:p>
            <a:pPr algn="l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88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837538">
            <a:off x="9217220" y="-11264407"/>
            <a:ext cx="12193493" cy="24298628"/>
          </a:xfrm>
          <a:custGeom>
            <a:avLst/>
            <a:gdLst/>
            <a:ahLst/>
            <a:cxnLst/>
            <a:rect r="r" b="b" t="t" l="l"/>
            <a:pathLst>
              <a:path h="24298628" w="12193493">
                <a:moveTo>
                  <a:pt x="0" y="0"/>
                </a:moveTo>
                <a:lnTo>
                  <a:pt x="12193493" y="0"/>
                </a:lnTo>
                <a:lnTo>
                  <a:pt x="12193493" y="24298628"/>
                </a:lnTo>
                <a:lnTo>
                  <a:pt x="0" y="24298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614025">
            <a:off x="-9880643" y="542788"/>
            <a:ext cx="18035830" cy="10690328"/>
          </a:xfrm>
          <a:custGeom>
            <a:avLst/>
            <a:gdLst/>
            <a:ahLst/>
            <a:cxnLst/>
            <a:rect r="r" b="b" t="t" l="l"/>
            <a:pathLst>
              <a:path h="10690328" w="18035830">
                <a:moveTo>
                  <a:pt x="0" y="0"/>
                </a:moveTo>
                <a:lnTo>
                  <a:pt x="18035830" y="0"/>
                </a:lnTo>
                <a:lnTo>
                  <a:pt x="18035830" y="10690328"/>
                </a:lnTo>
                <a:lnTo>
                  <a:pt x="0" y="106903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3355950" y="-3457321"/>
            <a:ext cx="11267597" cy="17605621"/>
          </a:xfrm>
          <a:custGeom>
            <a:avLst/>
            <a:gdLst/>
            <a:ahLst/>
            <a:cxnLst/>
            <a:rect r="r" b="b" t="t" l="l"/>
            <a:pathLst>
              <a:path h="17605621" w="11267597">
                <a:moveTo>
                  <a:pt x="0" y="0"/>
                </a:moveTo>
                <a:lnTo>
                  <a:pt x="11267597" y="0"/>
                </a:lnTo>
                <a:lnTo>
                  <a:pt x="11267597" y="17605621"/>
                </a:lnTo>
                <a:lnTo>
                  <a:pt x="0" y="176056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098624" y="503018"/>
            <a:ext cx="12090753" cy="782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71"/>
              </a:lnSpc>
            </a:pPr>
            <a:r>
              <a:rPr lang="en-US" b="true" sz="5300" spc="-344">
                <a:solidFill>
                  <a:srgbClr val="CA5E28"/>
                </a:solidFill>
                <a:latin typeface="Poppins Bold"/>
                <a:ea typeface="Poppins Bold"/>
                <a:cs typeface="Poppins Bold"/>
                <a:sym typeface="Poppins Bold"/>
              </a:rPr>
              <a:t>EXPLORATORY DATA ANALYSIS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3756983" y="7095877"/>
            <a:ext cx="5338803" cy="3883411"/>
          </a:xfrm>
          <a:custGeom>
            <a:avLst/>
            <a:gdLst/>
            <a:ahLst/>
            <a:cxnLst/>
            <a:rect r="r" b="b" t="t" l="l"/>
            <a:pathLst>
              <a:path h="3883411" w="5338803">
                <a:moveTo>
                  <a:pt x="0" y="0"/>
                </a:moveTo>
                <a:lnTo>
                  <a:pt x="5338803" y="0"/>
                </a:lnTo>
                <a:lnTo>
                  <a:pt x="5338803" y="3883411"/>
                </a:lnTo>
                <a:lnTo>
                  <a:pt x="0" y="38834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410756">
            <a:off x="15687098" y="-51311"/>
            <a:ext cx="2837535" cy="1908887"/>
          </a:xfrm>
          <a:custGeom>
            <a:avLst/>
            <a:gdLst/>
            <a:ahLst/>
            <a:cxnLst/>
            <a:rect r="r" b="b" t="t" l="l"/>
            <a:pathLst>
              <a:path h="1908887" w="2837535">
                <a:moveTo>
                  <a:pt x="0" y="0"/>
                </a:moveTo>
                <a:lnTo>
                  <a:pt x="2837535" y="0"/>
                </a:lnTo>
                <a:lnTo>
                  <a:pt x="2837535" y="1908887"/>
                </a:lnTo>
                <a:lnTo>
                  <a:pt x="0" y="190888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705095" y="1703377"/>
            <a:ext cx="4676871" cy="3642113"/>
          </a:xfrm>
          <a:custGeom>
            <a:avLst/>
            <a:gdLst/>
            <a:ahLst/>
            <a:cxnLst/>
            <a:rect r="r" b="b" t="t" l="l"/>
            <a:pathLst>
              <a:path h="3642113" w="4676871">
                <a:moveTo>
                  <a:pt x="0" y="0"/>
                </a:moveTo>
                <a:lnTo>
                  <a:pt x="4676871" y="0"/>
                </a:lnTo>
                <a:lnTo>
                  <a:pt x="4676871" y="3642113"/>
                </a:lnTo>
                <a:lnTo>
                  <a:pt x="0" y="364211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562130" y="1648922"/>
            <a:ext cx="3574893" cy="3642113"/>
          </a:xfrm>
          <a:custGeom>
            <a:avLst/>
            <a:gdLst/>
            <a:ahLst/>
            <a:cxnLst/>
            <a:rect r="r" b="b" t="t" l="l"/>
            <a:pathLst>
              <a:path h="3642113" w="3574893">
                <a:moveTo>
                  <a:pt x="0" y="0"/>
                </a:moveTo>
                <a:lnTo>
                  <a:pt x="3574893" y="0"/>
                </a:lnTo>
                <a:lnTo>
                  <a:pt x="3574893" y="3642113"/>
                </a:lnTo>
                <a:lnTo>
                  <a:pt x="0" y="364211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772719" y="6617773"/>
            <a:ext cx="2825051" cy="3179957"/>
          </a:xfrm>
          <a:custGeom>
            <a:avLst/>
            <a:gdLst/>
            <a:ahLst/>
            <a:cxnLst/>
            <a:rect r="r" b="b" t="t" l="l"/>
            <a:pathLst>
              <a:path h="3179957" w="2825051">
                <a:moveTo>
                  <a:pt x="0" y="0"/>
                </a:moveTo>
                <a:lnTo>
                  <a:pt x="2825050" y="0"/>
                </a:lnTo>
                <a:lnTo>
                  <a:pt x="2825050" y="3179957"/>
                </a:lnTo>
                <a:lnTo>
                  <a:pt x="0" y="317995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705095" y="5535098"/>
            <a:ext cx="4676871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-130">
                <a:solidFill>
                  <a:srgbClr val="171717"/>
                </a:solidFill>
                <a:latin typeface="Poppins"/>
                <a:ea typeface="Poppins"/>
                <a:cs typeface="Poppins"/>
                <a:sym typeface="Poppins"/>
              </a:rPr>
              <a:t>Shows the frequency of positive, neutral, and negative sentiments in the dataset.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703536" y="5494252"/>
            <a:ext cx="3292080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-130">
                <a:solidFill>
                  <a:srgbClr val="171717"/>
                </a:solidFill>
                <a:latin typeface="Poppins"/>
                <a:ea typeface="Poppins"/>
                <a:cs typeface="Poppins"/>
                <a:sym typeface="Poppins"/>
              </a:rPr>
              <a:t>Displays how often the market moves up or down.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97769" y="7637839"/>
            <a:ext cx="3849663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-130">
                <a:solidFill>
                  <a:srgbClr val="171717"/>
                </a:solidFill>
                <a:latin typeface="Poppins"/>
                <a:ea typeface="Poppins"/>
                <a:cs typeface="Poppins"/>
                <a:sym typeface="Poppins"/>
              </a:rPr>
              <a:t>Shows the relationship between sentiment and market direction using value intensity.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574183">
            <a:off x="7479466" y="1744496"/>
            <a:ext cx="7611600" cy="15168043"/>
          </a:xfrm>
          <a:custGeom>
            <a:avLst/>
            <a:gdLst/>
            <a:ahLst/>
            <a:cxnLst/>
            <a:rect r="r" b="b" t="t" l="l"/>
            <a:pathLst>
              <a:path h="15168043" w="7611600">
                <a:moveTo>
                  <a:pt x="0" y="0"/>
                </a:moveTo>
                <a:lnTo>
                  <a:pt x="7611599" y="0"/>
                </a:lnTo>
                <a:lnTo>
                  <a:pt x="7611599" y="15168043"/>
                </a:lnTo>
                <a:lnTo>
                  <a:pt x="0" y="151680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301686" y="5305257"/>
            <a:ext cx="7778309" cy="5852834"/>
          </a:xfrm>
          <a:custGeom>
            <a:avLst/>
            <a:gdLst/>
            <a:ahLst/>
            <a:cxnLst/>
            <a:rect r="r" b="b" t="t" l="l"/>
            <a:pathLst>
              <a:path h="5852834" w="7778309">
                <a:moveTo>
                  <a:pt x="7778309" y="0"/>
                </a:moveTo>
                <a:lnTo>
                  <a:pt x="0" y="0"/>
                </a:lnTo>
                <a:lnTo>
                  <a:pt x="0" y="5852834"/>
                </a:lnTo>
                <a:lnTo>
                  <a:pt x="7778309" y="5852834"/>
                </a:lnTo>
                <a:lnTo>
                  <a:pt x="777830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69412">
            <a:off x="-3345067" y="-5960745"/>
            <a:ext cx="5916872" cy="11790868"/>
          </a:xfrm>
          <a:custGeom>
            <a:avLst/>
            <a:gdLst/>
            <a:ahLst/>
            <a:cxnLst/>
            <a:rect r="r" b="b" t="t" l="l"/>
            <a:pathLst>
              <a:path h="11790868" w="5916872">
                <a:moveTo>
                  <a:pt x="0" y="0"/>
                </a:moveTo>
                <a:lnTo>
                  <a:pt x="5916872" y="0"/>
                </a:lnTo>
                <a:lnTo>
                  <a:pt x="5916872" y="11790868"/>
                </a:lnTo>
                <a:lnTo>
                  <a:pt x="0" y="117908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254138" y="278515"/>
            <a:ext cx="9574828" cy="9716853"/>
          </a:xfrm>
          <a:custGeom>
            <a:avLst/>
            <a:gdLst/>
            <a:ahLst/>
            <a:cxnLst/>
            <a:rect r="r" b="b" t="t" l="l"/>
            <a:pathLst>
              <a:path h="9716853" w="9574828">
                <a:moveTo>
                  <a:pt x="0" y="0"/>
                </a:moveTo>
                <a:lnTo>
                  <a:pt x="9574828" y="0"/>
                </a:lnTo>
                <a:lnTo>
                  <a:pt x="9574828" y="9716853"/>
                </a:lnTo>
                <a:lnTo>
                  <a:pt x="0" y="971685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80250" y="1821329"/>
            <a:ext cx="6661400" cy="2597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33"/>
              </a:lnSpc>
            </a:pPr>
            <a:r>
              <a:rPr lang="en-US" b="true" sz="6199">
                <a:solidFill>
                  <a:srgbClr val="072C5D"/>
                </a:solidFill>
                <a:latin typeface="Poppins Bold"/>
                <a:ea typeface="Poppins Bold"/>
                <a:cs typeface="Poppins Bold"/>
                <a:sym typeface="Poppins Bold"/>
              </a:rPr>
              <a:t>APPROACH</a:t>
            </a:r>
          </a:p>
          <a:p>
            <a:pPr algn="ctr">
              <a:lnSpc>
                <a:spcPts val="6633"/>
              </a:lnSpc>
            </a:pPr>
            <a:r>
              <a:rPr lang="en-US" b="true" sz="6199">
                <a:solidFill>
                  <a:srgbClr val="072C5D"/>
                </a:solidFill>
                <a:latin typeface="Poppins Bold"/>
                <a:ea typeface="Poppins Bold"/>
                <a:cs typeface="Poppins Bold"/>
                <a:sym typeface="Poppins Bold"/>
              </a:rPr>
              <a:t> &amp; </a:t>
            </a:r>
          </a:p>
          <a:p>
            <a:pPr algn="ctr">
              <a:lnSpc>
                <a:spcPts val="6633"/>
              </a:lnSpc>
            </a:pPr>
            <a:r>
              <a:rPr lang="en-US" b="true" sz="6199">
                <a:solidFill>
                  <a:srgbClr val="072C5D"/>
                </a:solidFill>
                <a:latin typeface="Poppins Bold"/>
                <a:ea typeface="Poppins Bold"/>
                <a:cs typeface="Poppins Bold"/>
                <a:sym typeface="Poppins Bold"/>
              </a:rPr>
              <a:t>MODEL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40245" y="1424991"/>
            <a:ext cx="5237830" cy="726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b="true" sz="4576">
                <a:solidFill>
                  <a:srgbClr val="FFE0BF"/>
                </a:solidFill>
                <a:latin typeface="Poppins Bold"/>
                <a:ea typeface="Poppins Bold"/>
                <a:cs typeface="Poppins Bold"/>
                <a:sym typeface="Poppins Bold"/>
              </a:rPr>
              <a:t>APPROACH: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14880" y="2221697"/>
            <a:ext cx="7051708" cy="3083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7" indent="-323848" lvl="1">
              <a:lnSpc>
                <a:spcPts val="353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Used a Machine Learning model (Logistic Regression)</a:t>
            </a:r>
          </a:p>
          <a:p>
            <a:pPr algn="l" marL="647697" indent="-323848" lvl="1">
              <a:lnSpc>
                <a:spcPts val="353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Input: Sentiment Score</a:t>
            </a:r>
          </a:p>
          <a:p>
            <a:pPr algn="l" marL="647697" indent="-323848" lvl="1">
              <a:lnSpc>
                <a:spcPts val="353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Output: Market Movement (Up/Down)</a:t>
            </a:r>
          </a:p>
          <a:p>
            <a:pPr algn="l" marL="647697" indent="-323848" lvl="1">
              <a:lnSpc>
                <a:spcPts val="353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Model Used: Logistic Regression</a:t>
            </a:r>
          </a:p>
          <a:p>
            <a:pPr algn="l">
              <a:lnSpc>
                <a:spcPts val="294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560327" y="5695410"/>
            <a:ext cx="4997664" cy="726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b="true" sz="4576">
                <a:solidFill>
                  <a:srgbClr val="FFE0BF"/>
                </a:solidFill>
                <a:latin typeface="Poppins Bold"/>
                <a:ea typeface="Poppins Bold"/>
                <a:cs typeface="Poppins Bold"/>
                <a:sym typeface="Poppins Bold"/>
              </a:rPr>
              <a:t>PROCESS: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93708" y="6488084"/>
            <a:ext cx="6894053" cy="2712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7" indent="-323848" lvl="1">
              <a:lnSpc>
                <a:spcPts val="353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Data split into Training (80%) and Testing (20%)</a:t>
            </a:r>
          </a:p>
          <a:p>
            <a:pPr algn="l" marL="647697" indent="-323848" lvl="1">
              <a:lnSpc>
                <a:spcPts val="353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Model trained on historical data</a:t>
            </a:r>
          </a:p>
          <a:p>
            <a:pPr algn="l" marL="647697" indent="-323848" lvl="1">
              <a:lnSpc>
                <a:spcPts val="353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Performance evaluated using accuracy and classification metrics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7729569">
            <a:off x="16317118" y="-1459717"/>
            <a:ext cx="2714903" cy="3789839"/>
          </a:xfrm>
          <a:custGeom>
            <a:avLst/>
            <a:gdLst/>
            <a:ahLst/>
            <a:cxnLst/>
            <a:rect r="r" b="b" t="t" l="l"/>
            <a:pathLst>
              <a:path h="3789839" w="2714903">
                <a:moveTo>
                  <a:pt x="0" y="0"/>
                </a:moveTo>
                <a:lnTo>
                  <a:pt x="2714903" y="0"/>
                </a:lnTo>
                <a:lnTo>
                  <a:pt x="2714903" y="3789839"/>
                </a:lnTo>
                <a:lnTo>
                  <a:pt x="0" y="378983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666588" y="8737385"/>
            <a:ext cx="3242824" cy="3819172"/>
          </a:xfrm>
          <a:custGeom>
            <a:avLst/>
            <a:gdLst/>
            <a:ahLst/>
            <a:cxnLst/>
            <a:rect r="r" b="b" t="t" l="l"/>
            <a:pathLst>
              <a:path h="3819172" w="3242824">
                <a:moveTo>
                  <a:pt x="0" y="0"/>
                </a:moveTo>
                <a:lnTo>
                  <a:pt x="3242824" y="0"/>
                </a:lnTo>
                <a:lnTo>
                  <a:pt x="3242824" y="3819172"/>
                </a:lnTo>
                <a:lnTo>
                  <a:pt x="0" y="38191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837538">
            <a:off x="-6986319" y="-2891014"/>
            <a:ext cx="12193493" cy="24298628"/>
          </a:xfrm>
          <a:custGeom>
            <a:avLst/>
            <a:gdLst/>
            <a:ahLst/>
            <a:cxnLst/>
            <a:rect r="r" b="b" t="t" l="l"/>
            <a:pathLst>
              <a:path h="24298628" w="12193493">
                <a:moveTo>
                  <a:pt x="0" y="0"/>
                </a:moveTo>
                <a:lnTo>
                  <a:pt x="12193493" y="0"/>
                </a:lnTo>
                <a:lnTo>
                  <a:pt x="12193493" y="24298628"/>
                </a:lnTo>
                <a:lnTo>
                  <a:pt x="0" y="24298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40609" y="3929776"/>
            <a:ext cx="4880761" cy="5328524"/>
          </a:xfrm>
          <a:custGeom>
            <a:avLst/>
            <a:gdLst/>
            <a:ahLst/>
            <a:cxnLst/>
            <a:rect r="r" b="b" t="t" l="l"/>
            <a:pathLst>
              <a:path h="5328524" w="4880761">
                <a:moveTo>
                  <a:pt x="0" y="0"/>
                </a:moveTo>
                <a:lnTo>
                  <a:pt x="4880762" y="0"/>
                </a:lnTo>
                <a:lnTo>
                  <a:pt x="4880762" y="5328524"/>
                </a:lnTo>
                <a:lnTo>
                  <a:pt x="0" y="53285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587" t="0" r="-4587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704843" y="3929776"/>
            <a:ext cx="4880761" cy="5328524"/>
          </a:xfrm>
          <a:custGeom>
            <a:avLst/>
            <a:gdLst/>
            <a:ahLst/>
            <a:cxnLst/>
            <a:rect r="r" b="b" t="t" l="l"/>
            <a:pathLst>
              <a:path h="5328524" w="4880761">
                <a:moveTo>
                  <a:pt x="0" y="0"/>
                </a:moveTo>
                <a:lnTo>
                  <a:pt x="4880761" y="0"/>
                </a:lnTo>
                <a:lnTo>
                  <a:pt x="4880761" y="5328524"/>
                </a:lnTo>
                <a:lnTo>
                  <a:pt x="0" y="53285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587" t="0" r="-4587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166629" y="3929776"/>
            <a:ext cx="4880761" cy="5328524"/>
          </a:xfrm>
          <a:custGeom>
            <a:avLst/>
            <a:gdLst/>
            <a:ahLst/>
            <a:cxnLst/>
            <a:rect r="r" b="b" t="t" l="l"/>
            <a:pathLst>
              <a:path h="5328524" w="4880761">
                <a:moveTo>
                  <a:pt x="0" y="0"/>
                </a:moveTo>
                <a:lnTo>
                  <a:pt x="4880762" y="0"/>
                </a:lnTo>
                <a:lnTo>
                  <a:pt x="4880762" y="5328524"/>
                </a:lnTo>
                <a:lnTo>
                  <a:pt x="0" y="53285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587" t="0" r="-4587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2995" y="282673"/>
            <a:ext cx="2069880" cy="1516658"/>
          </a:xfrm>
          <a:custGeom>
            <a:avLst/>
            <a:gdLst/>
            <a:ahLst/>
            <a:cxnLst/>
            <a:rect r="r" b="b" t="t" l="l"/>
            <a:pathLst>
              <a:path h="1516658" w="2069880">
                <a:moveTo>
                  <a:pt x="0" y="0"/>
                </a:moveTo>
                <a:lnTo>
                  <a:pt x="2069880" y="0"/>
                </a:lnTo>
                <a:lnTo>
                  <a:pt x="2069880" y="1516658"/>
                </a:lnTo>
                <a:lnTo>
                  <a:pt x="0" y="15166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989144" y="8197051"/>
            <a:ext cx="4116493" cy="3142256"/>
          </a:xfrm>
          <a:custGeom>
            <a:avLst/>
            <a:gdLst/>
            <a:ahLst/>
            <a:cxnLst/>
            <a:rect r="r" b="b" t="t" l="l"/>
            <a:pathLst>
              <a:path h="3142256" w="4116493">
                <a:moveTo>
                  <a:pt x="0" y="0"/>
                </a:moveTo>
                <a:lnTo>
                  <a:pt x="4116493" y="0"/>
                </a:lnTo>
                <a:lnTo>
                  <a:pt x="4116493" y="3142257"/>
                </a:lnTo>
                <a:lnTo>
                  <a:pt x="0" y="314225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267456" y="4852741"/>
            <a:ext cx="3766391" cy="3454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1" indent="-302261" lvl="1">
              <a:lnSpc>
                <a:spcPts val="3388"/>
              </a:lnSpc>
              <a:buFont typeface="Arial"/>
              <a:buChar char="•"/>
            </a:pPr>
            <a:r>
              <a:rPr lang="en-US" sz="2800">
                <a:solidFill>
                  <a:srgbClr val="141623"/>
                </a:solidFill>
                <a:latin typeface="Poppins"/>
                <a:ea typeface="Poppins"/>
                <a:cs typeface="Poppins"/>
                <a:sym typeface="Poppins"/>
              </a:rPr>
              <a:t>Sentiment shows a partial influence on market trends</a:t>
            </a:r>
          </a:p>
          <a:p>
            <a:pPr algn="l" marL="604521" indent="-302261" lvl="1">
              <a:lnSpc>
                <a:spcPts val="3388"/>
              </a:lnSpc>
              <a:buFont typeface="Arial"/>
              <a:buChar char="•"/>
            </a:pPr>
            <a:r>
              <a:rPr lang="en-US" sz="2800">
                <a:solidFill>
                  <a:srgbClr val="141623"/>
                </a:solidFill>
                <a:latin typeface="Poppins"/>
                <a:ea typeface="Poppins"/>
                <a:cs typeface="Poppins"/>
                <a:sym typeface="Poppins"/>
              </a:rPr>
              <a:t>Model provides useful but limited predictive insights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26654" y="5281366"/>
            <a:ext cx="4319528" cy="2596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1" indent="-302261" lvl="1">
              <a:lnSpc>
                <a:spcPts val="3388"/>
              </a:lnSpc>
              <a:buFont typeface="Arial"/>
              <a:buChar char="•"/>
            </a:pPr>
            <a:r>
              <a:rPr lang="en-US" sz="2800">
                <a:solidFill>
                  <a:srgbClr val="141623"/>
                </a:solidFill>
                <a:latin typeface="Poppins"/>
                <a:ea typeface="Poppins"/>
                <a:cs typeface="Poppins"/>
                <a:sym typeface="Poppins"/>
              </a:rPr>
              <a:t>Model predicts market movement based on sentiment</a:t>
            </a:r>
          </a:p>
          <a:p>
            <a:pPr algn="l" marL="604521" indent="-302261" lvl="1">
              <a:lnSpc>
                <a:spcPts val="3388"/>
              </a:lnSpc>
              <a:buFont typeface="Arial"/>
              <a:buChar char="•"/>
            </a:pPr>
            <a:r>
              <a:rPr lang="en-US" sz="2800">
                <a:solidFill>
                  <a:srgbClr val="141623"/>
                </a:solidFill>
                <a:latin typeface="Poppins"/>
                <a:ea typeface="Poppins"/>
                <a:cs typeface="Poppins"/>
                <a:sym typeface="Poppins"/>
              </a:rPr>
              <a:t>Accuracy achieved: ~70–75%</a:t>
            </a:r>
          </a:p>
          <a:p>
            <a:pPr algn="l">
              <a:lnSpc>
                <a:spcPts val="3388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2998975" y="1555196"/>
            <a:ext cx="12290050" cy="782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71"/>
              </a:lnSpc>
            </a:pPr>
            <a:r>
              <a:rPr lang="en-US" b="true" sz="5300">
                <a:solidFill>
                  <a:srgbClr val="072C5D"/>
                </a:solidFill>
                <a:latin typeface="Poppins Bold"/>
                <a:ea typeface="Poppins Bold"/>
                <a:cs typeface="Poppins Bold"/>
                <a:sym typeface="Poppins Bold"/>
              </a:rPr>
              <a:t>RESULTS &amp; KEY INSIGHTS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702903" y="4743286"/>
            <a:ext cx="3808214" cy="3454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1" indent="-302261" lvl="1">
              <a:lnSpc>
                <a:spcPts val="3388"/>
              </a:lnSpc>
              <a:buFont typeface="Arial"/>
              <a:buChar char="•"/>
            </a:pPr>
            <a:r>
              <a:rPr lang="en-US" sz="2800">
                <a:solidFill>
                  <a:srgbClr val="141623"/>
                </a:solidFill>
                <a:latin typeface="Poppins"/>
                <a:ea typeface="Poppins"/>
                <a:cs typeface="Poppins"/>
                <a:sym typeface="Poppins"/>
              </a:rPr>
              <a:t>Incorporate additional data (news, stock prices, volume)</a:t>
            </a:r>
          </a:p>
          <a:p>
            <a:pPr algn="l" marL="604521" indent="-302261" lvl="1">
              <a:lnSpc>
                <a:spcPts val="3388"/>
              </a:lnSpc>
              <a:buFont typeface="Arial"/>
              <a:buChar char="•"/>
            </a:pPr>
            <a:r>
              <a:rPr lang="en-US" sz="2800">
                <a:solidFill>
                  <a:srgbClr val="141623"/>
                </a:solidFill>
                <a:latin typeface="Poppins"/>
                <a:ea typeface="Poppins"/>
                <a:cs typeface="Poppins"/>
                <a:sym typeface="Poppins"/>
              </a:rPr>
              <a:t>Use advanced models for improved accuracy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1036512">
            <a:off x="16229699" y="-9242072"/>
            <a:ext cx="5916872" cy="11790868"/>
          </a:xfrm>
          <a:custGeom>
            <a:avLst/>
            <a:gdLst/>
            <a:ahLst/>
            <a:cxnLst/>
            <a:rect r="r" b="b" t="t" l="l"/>
            <a:pathLst>
              <a:path h="11790868" w="5916872">
                <a:moveTo>
                  <a:pt x="0" y="0"/>
                </a:moveTo>
                <a:lnTo>
                  <a:pt x="5916872" y="0"/>
                </a:lnTo>
                <a:lnTo>
                  <a:pt x="5916872" y="11790868"/>
                </a:lnTo>
                <a:lnTo>
                  <a:pt x="0" y="1179086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473214" y="282673"/>
            <a:ext cx="1211169" cy="1253473"/>
          </a:xfrm>
          <a:custGeom>
            <a:avLst/>
            <a:gdLst/>
            <a:ahLst/>
            <a:cxnLst/>
            <a:rect r="r" b="b" t="t" l="l"/>
            <a:pathLst>
              <a:path h="1253473" w="1211169">
                <a:moveTo>
                  <a:pt x="0" y="0"/>
                </a:moveTo>
                <a:lnTo>
                  <a:pt x="1211169" y="0"/>
                </a:lnTo>
                <a:lnTo>
                  <a:pt x="1211169" y="1253473"/>
                </a:lnTo>
                <a:lnTo>
                  <a:pt x="0" y="125347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240609" y="2662355"/>
            <a:ext cx="4880761" cy="940016"/>
            <a:chOff x="0" y="0"/>
            <a:chExt cx="1285468" cy="24757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85468" cy="247576"/>
            </a:xfrm>
            <a:custGeom>
              <a:avLst/>
              <a:gdLst/>
              <a:ahLst/>
              <a:cxnLst/>
              <a:rect r="r" b="b" t="t" l="l"/>
              <a:pathLst>
                <a:path h="247576" w="1285468">
                  <a:moveTo>
                    <a:pt x="80897" y="0"/>
                  </a:moveTo>
                  <a:lnTo>
                    <a:pt x="1204571" y="0"/>
                  </a:lnTo>
                  <a:cubicBezTo>
                    <a:pt x="1226026" y="0"/>
                    <a:pt x="1246603" y="8523"/>
                    <a:pt x="1261774" y="23694"/>
                  </a:cubicBezTo>
                  <a:cubicBezTo>
                    <a:pt x="1276945" y="38865"/>
                    <a:pt x="1285468" y="59442"/>
                    <a:pt x="1285468" y="80897"/>
                  </a:cubicBezTo>
                  <a:lnTo>
                    <a:pt x="1285468" y="166680"/>
                  </a:lnTo>
                  <a:cubicBezTo>
                    <a:pt x="1285468" y="188135"/>
                    <a:pt x="1276945" y="208711"/>
                    <a:pt x="1261774" y="223882"/>
                  </a:cubicBezTo>
                  <a:cubicBezTo>
                    <a:pt x="1246603" y="239053"/>
                    <a:pt x="1226026" y="247576"/>
                    <a:pt x="1204571" y="247576"/>
                  </a:cubicBezTo>
                  <a:lnTo>
                    <a:pt x="80897" y="247576"/>
                  </a:lnTo>
                  <a:cubicBezTo>
                    <a:pt x="59442" y="247576"/>
                    <a:pt x="38865" y="239053"/>
                    <a:pt x="23694" y="223882"/>
                  </a:cubicBezTo>
                  <a:cubicBezTo>
                    <a:pt x="8523" y="208711"/>
                    <a:pt x="0" y="188135"/>
                    <a:pt x="0" y="166680"/>
                  </a:cubicBezTo>
                  <a:lnTo>
                    <a:pt x="0" y="80897"/>
                  </a:lnTo>
                  <a:cubicBezTo>
                    <a:pt x="0" y="59442"/>
                    <a:pt x="8523" y="38865"/>
                    <a:pt x="23694" y="23694"/>
                  </a:cubicBezTo>
                  <a:cubicBezTo>
                    <a:pt x="38865" y="8523"/>
                    <a:pt x="59442" y="0"/>
                    <a:pt x="80897" y="0"/>
                  </a:cubicBezTo>
                  <a:close/>
                </a:path>
              </a:pathLst>
            </a:custGeom>
            <a:solidFill>
              <a:srgbClr val="072C5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1285468" cy="3237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51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51465" y="2741167"/>
            <a:ext cx="4869906" cy="726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51"/>
              </a:lnSpc>
            </a:pPr>
            <a:r>
              <a:rPr lang="en-US" b="true" sz="4036">
                <a:solidFill>
                  <a:srgbClr val="F4BA2F"/>
                </a:solidFill>
                <a:latin typeface="Poppins Bold"/>
                <a:ea typeface="Poppins Bold"/>
                <a:cs typeface="Poppins Bold"/>
                <a:sym typeface="Poppins Bold"/>
              </a:rPr>
              <a:t>RESULTS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166629" y="2720411"/>
            <a:ext cx="4880761" cy="940016"/>
            <a:chOff x="0" y="0"/>
            <a:chExt cx="1285468" cy="24757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85468" cy="247576"/>
            </a:xfrm>
            <a:custGeom>
              <a:avLst/>
              <a:gdLst/>
              <a:ahLst/>
              <a:cxnLst/>
              <a:rect r="r" b="b" t="t" l="l"/>
              <a:pathLst>
                <a:path h="247576" w="1285468">
                  <a:moveTo>
                    <a:pt x="80897" y="0"/>
                  </a:moveTo>
                  <a:lnTo>
                    <a:pt x="1204571" y="0"/>
                  </a:lnTo>
                  <a:cubicBezTo>
                    <a:pt x="1226026" y="0"/>
                    <a:pt x="1246603" y="8523"/>
                    <a:pt x="1261774" y="23694"/>
                  </a:cubicBezTo>
                  <a:cubicBezTo>
                    <a:pt x="1276945" y="38865"/>
                    <a:pt x="1285468" y="59442"/>
                    <a:pt x="1285468" y="80897"/>
                  </a:cubicBezTo>
                  <a:lnTo>
                    <a:pt x="1285468" y="166680"/>
                  </a:lnTo>
                  <a:cubicBezTo>
                    <a:pt x="1285468" y="188135"/>
                    <a:pt x="1276945" y="208711"/>
                    <a:pt x="1261774" y="223882"/>
                  </a:cubicBezTo>
                  <a:cubicBezTo>
                    <a:pt x="1246603" y="239053"/>
                    <a:pt x="1226026" y="247576"/>
                    <a:pt x="1204571" y="247576"/>
                  </a:cubicBezTo>
                  <a:lnTo>
                    <a:pt x="80897" y="247576"/>
                  </a:lnTo>
                  <a:cubicBezTo>
                    <a:pt x="59442" y="247576"/>
                    <a:pt x="38865" y="239053"/>
                    <a:pt x="23694" y="223882"/>
                  </a:cubicBezTo>
                  <a:cubicBezTo>
                    <a:pt x="8523" y="208711"/>
                    <a:pt x="0" y="188135"/>
                    <a:pt x="0" y="166680"/>
                  </a:cubicBezTo>
                  <a:lnTo>
                    <a:pt x="0" y="80897"/>
                  </a:lnTo>
                  <a:cubicBezTo>
                    <a:pt x="0" y="59442"/>
                    <a:pt x="8523" y="38865"/>
                    <a:pt x="23694" y="23694"/>
                  </a:cubicBezTo>
                  <a:cubicBezTo>
                    <a:pt x="38865" y="8523"/>
                    <a:pt x="59442" y="0"/>
                    <a:pt x="80897" y="0"/>
                  </a:cubicBezTo>
                  <a:close/>
                </a:path>
              </a:pathLst>
            </a:custGeom>
            <a:solidFill>
              <a:srgbClr val="072C5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76200"/>
              <a:ext cx="1285468" cy="3237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51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2177485" y="2799223"/>
            <a:ext cx="4869906" cy="726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51"/>
              </a:lnSpc>
            </a:pPr>
            <a:r>
              <a:rPr lang="en-US" b="true" sz="4036">
                <a:solidFill>
                  <a:srgbClr val="F4BA2F"/>
                </a:solidFill>
                <a:latin typeface="Poppins Bold"/>
                <a:ea typeface="Poppins Bold"/>
                <a:cs typeface="Poppins Bold"/>
                <a:sym typeface="Poppins Bold"/>
              </a:rPr>
              <a:t>SCOPE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6704843" y="2691383"/>
            <a:ext cx="4880761" cy="940016"/>
            <a:chOff x="0" y="0"/>
            <a:chExt cx="1285468" cy="24757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85468" cy="247576"/>
            </a:xfrm>
            <a:custGeom>
              <a:avLst/>
              <a:gdLst/>
              <a:ahLst/>
              <a:cxnLst/>
              <a:rect r="r" b="b" t="t" l="l"/>
              <a:pathLst>
                <a:path h="247576" w="1285468">
                  <a:moveTo>
                    <a:pt x="80897" y="0"/>
                  </a:moveTo>
                  <a:lnTo>
                    <a:pt x="1204571" y="0"/>
                  </a:lnTo>
                  <a:cubicBezTo>
                    <a:pt x="1226026" y="0"/>
                    <a:pt x="1246603" y="8523"/>
                    <a:pt x="1261774" y="23694"/>
                  </a:cubicBezTo>
                  <a:cubicBezTo>
                    <a:pt x="1276945" y="38865"/>
                    <a:pt x="1285468" y="59442"/>
                    <a:pt x="1285468" y="80897"/>
                  </a:cubicBezTo>
                  <a:lnTo>
                    <a:pt x="1285468" y="166680"/>
                  </a:lnTo>
                  <a:cubicBezTo>
                    <a:pt x="1285468" y="188135"/>
                    <a:pt x="1276945" y="208711"/>
                    <a:pt x="1261774" y="223882"/>
                  </a:cubicBezTo>
                  <a:cubicBezTo>
                    <a:pt x="1246603" y="239053"/>
                    <a:pt x="1226026" y="247576"/>
                    <a:pt x="1204571" y="247576"/>
                  </a:cubicBezTo>
                  <a:lnTo>
                    <a:pt x="80897" y="247576"/>
                  </a:lnTo>
                  <a:cubicBezTo>
                    <a:pt x="59442" y="247576"/>
                    <a:pt x="38865" y="239053"/>
                    <a:pt x="23694" y="223882"/>
                  </a:cubicBezTo>
                  <a:cubicBezTo>
                    <a:pt x="8523" y="208711"/>
                    <a:pt x="0" y="188135"/>
                    <a:pt x="0" y="166680"/>
                  </a:cubicBezTo>
                  <a:lnTo>
                    <a:pt x="0" y="80897"/>
                  </a:lnTo>
                  <a:cubicBezTo>
                    <a:pt x="0" y="59442"/>
                    <a:pt x="8523" y="38865"/>
                    <a:pt x="23694" y="23694"/>
                  </a:cubicBezTo>
                  <a:cubicBezTo>
                    <a:pt x="38865" y="8523"/>
                    <a:pt x="59442" y="0"/>
                    <a:pt x="80897" y="0"/>
                  </a:cubicBezTo>
                  <a:close/>
                </a:path>
              </a:pathLst>
            </a:custGeom>
            <a:solidFill>
              <a:srgbClr val="072C5D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76200"/>
              <a:ext cx="1285468" cy="3237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51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6715698" y="2770195"/>
            <a:ext cx="4869906" cy="726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51"/>
              </a:lnSpc>
            </a:pPr>
            <a:r>
              <a:rPr lang="en-US" b="true" sz="4036">
                <a:solidFill>
                  <a:srgbClr val="F4BA2F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88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81864" y="-574868"/>
            <a:ext cx="15229373" cy="16296021"/>
          </a:xfrm>
          <a:custGeom>
            <a:avLst/>
            <a:gdLst/>
            <a:ahLst/>
            <a:cxnLst/>
            <a:rect r="r" b="b" t="t" l="l"/>
            <a:pathLst>
              <a:path h="16296021" w="15229373">
                <a:moveTo>
                  <a:pt x="0" y="0"/>
                </a:moveTo>
                <a:lnTo>
                  <a:pt x="15229373" y="0"/>
                </a:lnTo>
                <a:lnTo>
                  <a:pt x="15229373" y="16296022"/>
                </a:lnTo>
                <a:lnTo>
                  <a:pt x="0" y="162960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219917" y="2561439"/>
            <a:ext cx="9373375" cy="5536540"/>
          </a:xfrm>
          <a:custGeom>
            <a:avLst/>
            <a:gdLst/>
            <a:ahLst/>
            <a:cxnLst/>
            <a:rect r="r" b="b" t="t" l="l"/>
            <a:pathLst>
              <a:path h="5536540" w="9373375">
                <a:moveTo>
                  <a:pt x="0" y="0"/>
                </a:moveTo>
                <a:lnTo>
                  <a:pt x="9373375" y="0"/>
                </a:lnTo>
                <a:lnTo>
                  <a:pt x="9373375" y="5536540"/>
                </a:lnTo>
                <a:lnTo>
                  <a:pt x="0" y="55365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49204" y="6125396"/>
            <a:ext cx="5462878" cy="1863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38"/>
              </a:lnSpc>
            </a:pPr>
            <a:r>
              <a:rPr lang="en-US" sz="352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for listening—hope this gave you some meaningful insights!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965955" y="7763612"/>
            <a:ext cx="3044735" cy="2989377"/>
          </a:xfrm>
          <a:custGeom>
            <a:avLst/>
            <a:gdLst/>
            <a:ahLst/>
            <a:cxnLst/>
            <a:rect r="r" b="b" t="t" l="l"/>
            <a:pathLst>
              <a:path h="2989377" w="3044735">
                <a:moveTo>
                  <a:pt x="0" y="0"/>
                </a:moveTo>
                <a:lnTo>
                  <a:pt x="3044736" y="0"/>
                </a:lnTo>
                <a:lnTo>
                  <a:pt x="3044736" y="2989376"/>
                </a:lnTo>
                <a:lnTo>
                  <a:pt x="0" y="29893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222139">
            <a:off x="16091137" y="602657"/>
            <a:ext cx="3938942" cy="2649834"/>
          </a:xfrm>
          <a:custGeom>
            <a:avLst/>
            <a:gdLst/>
            <a:ahLst/>
            <a:cxnLst/>
            <a:rect r="r" b="b" t="t" l="l"/>
            <a:pathLst>
              <a:path h="2649834" w="3938942">
                <a:moveTo>
                  <a:pt x="0" y="0"/>
                </a:moveTo>
                <a:lnTo>
                  <a:pt x="3938942" y="0"/>
                </a:lnTo>
                <a:lnTo>
                  <a:pt x="3938942" y="2649834"/>
                </a:lnTo>
                <a:lnTo>
                  <a:pt x="0" y="264983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91908">
            <a:off x="-5383893" y="-5839759"/>
            <a:ext cx="12630832" cy="7486639"/>
          </a:xfrm>
          <a:custGeom>
            <a:avLst/>
            <a:gdLst/>
            <a:ahLst/>
            <a:cxnLst/>
            <a:rect r="r" b="b" t="t" l="l"/>
            <a:pathLst>
              <a:path h="7486639" w="12630832">
                <a:moveTo>
                  <a:pt x="0" y="0"/>
                </a:moveTo>
                <a:lnTo>
                  <a:pt x="12630832" y="0"/>
                </a:lnTo>
                <a:lnTo>
                  <a:pt x="12630832" y="7486638"/>
                </a:lnTo>
                <a:lnTo>
                  <a:pt x="0" y="74866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096551" y="8742222"/>
            <a:ext cx="2745808" cy="2596037"/>
          </a:xfrm>
          <a:custGeom>
            <a:avLst/>
            <a:gdLst/>
            <a:ahLst/>
            <a:cxnLst/>
            <a:rect r="r" b="b" t="t" l="l"/>
            <a:pathLst>
              <a:path h="2596037" w="2745808">
                <a:moveTo>
                  <a:pt x="0" y="0"/>
                </a:moveTo>
                <a:lnTo>
                  <a:pt x="2745808" y="0"/>
                </a:lnTo>
                <a:lnTo>
                  <a:pt x="2745808" y="2596036"/>
                </a:lnTo>
                <a:lnTo>
                  <a:pt x="0" y="259603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49204" y="2292534"/>
            <a:ext cx="7065219" cy="3842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45"/>
              </a:lnSpc>
            </a:pPr>
            <a:r>
              <a:rPr lang="en-US" b="true" sz="13500">
                <a:solidFill>
                  <a:srgbClr val="072C5D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DAHI6ZtcXZM</dc:identifier>
  <dcterms:modified xsi:type="dcterms:W3CDTF">2011-08-01T06:04:30Z</dcterms:modified>
  <cp:revision>1</cp:revision>
  <dc:title>Pink Yellow Colorful Illustration Business Financial Report Presentation</dc:title>
</cp:coreProperties>
</file>